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46" d="100"/>
          <a:sy n="46" d="100"/>
        </p:scale>
        <p:origin x="5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7A1256-534C-42D0-8105-D4686C813EC6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EBBFBE-49FF-43F2-B99F-A6C5002EF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54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BBFBE-49FF-43F2-B99F-A6C5002EF92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66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0AB31-85AC-1528-E95B-13E9381DD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0AFB9-E107-50DB-3172-4B84B8D91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71366-23AC-1B14-37FA-8140F5BE5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FF1F2-6BE2-4388-B4BB-2314F9384B6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6DF4B-4E24-A5C5-F61A-6D08DFAF9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EF7F1-556A-D129-2A1A-B538B7755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5A92-A2C9-4E93-9336-B43A72F13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45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9F814-478B-3827-451B-FDE9A194F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04591-C864-3E87-AE2F-A36E41D2F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C8F7B-E921-EE7A-70E2-C7ECF0811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FF1F2-6BE2-4388-B4BB-2314F9384B6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BC4D1-A38A-8424-16D2-3F1F16CA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712BA-2FD7-EFE8-1ED3-450A6180D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5A92-A2C9-4E93-9336-B43A72F13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45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72546-3F65-31CE-9469-09C0A7F05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FE228-0278-85A4-B7A4-9B7F023F8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F88EF-15FD-5187-8502-9B89337C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FF1F2-6BE2-4388-B4BB-2314F9384B6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D1630-65D8-9243-4227-9AC3CA9CC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186B2-AF82-494E-8463-B6C03EA8D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5A92-A2C9-4E93-9336-B43A72F13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47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7C785-6110-EC38-C18B-EA56B531B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48C3D-EF1C-1047-CE26-5606D57D2D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584882-1735-48C7-7F2E-A91411991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CBD0A-0C9D-AAF9-0E77-2049A7123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FF1F2-6BE2-4388-B4BB-2314F9384B6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359D5-104D-C2B6-6CFB-49BC0E0D5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AC0B8-D894-BC64-09CB-97971D5B8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5A92-A2C9-4E93-9336-B43A72F13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298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F41A5-E74F-BE63-16EF-EED54FED8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99BC7-73F9-3746-250F-31C1E0CEC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5C259-C1F6-1736-B9A7-41CF4F91A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D91FD0-1AAC-F938-7418-F2F030285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5F7FCE-F183-D88B-92C1-963518B65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80AD16-5F08-3FEC-7479-5C9260641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FF1F2-6BE2-4388-B4BB-2314F9384B6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7C6131-C8A3-6911-E411-1A050B41B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46B19B-C83C-1DC9-16A7-5F2887755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5A92-A2C9-4E93-9336-B43A72F13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539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57844-90F3-B4BE-0CB4-F4FD0A23A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372F2B-1055-98B0-557A-300000BBD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FF1F2-6BE2-4388-B4BB-2314F9384B6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D1969-C028-B69F-B2F0-C6788BF62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C26B02-884E-64A0-642D-D22EF031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5A92-A2C9-4E93-9336-B43A72F13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584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28A675-A724-7CF2-E402-662F68EDE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FF1F2-6BE2-4388-B4BB-2314F9384B6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3FA22-956C-4C9A-FEE8-CE957D12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68258-4BA2-9B34-0E60-4943EF1C4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5A92-A2C9-4E93-9336-B43A72F13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335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FBBED-C5F3-9401-FE7B-AAA2F549B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F1A55-5942-84BE-0FD8-940CFADDF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052F4-9D46-3D9B-E713-7D3F8206A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75FF8-486F-C139-0B6A-8F35D92B2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FF1F2-6BE2-4388-B4BB-2314F9384B6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E98C7-B425-6044-FA6C-60A069C19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99DF4-0393-5064-20D0-498C7A671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5A92-A2C9-4E93-9336-B43A72F13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91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8DDBA-935D-2533-6384-C05F4892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EE4201-5733-3366-F896-AABCDEA528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D82DC-45DD-2441-7BB3-E02B4A317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01CC3-73F4-7740-628C-815F29CCE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FF1F2-6BE2-4388-B4BB-2314F9384B6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E3818-F41D-3584-0CB5-D5E4B5A5D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47D50-8AF0-6F03-9E68-67D2736AB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5A92-A2C9-4E93-9336-B43A72F13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08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32928-FC3F-F4AB-A8C7-7155F084D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541C6B-B0BB-63C7-6963-1A9FB608C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A6DD8-FC6B-D428-B0DF-7265B7DD1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FF1F2-6BE2-4388-B4BB-2314F9384B6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07BA0-EE19-5948-D210-EBFF6ADF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243DA-72E8-12D8-807A-7E481320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5A92-A2C9-4E93-9336-B43A72F13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26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107C14-01E7-FED1-1C62-42F46B2A77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C3AF1-F2E0-82CD-463D-22F95267B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F390D-0650-A223-F17F-6681AEF55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FF1F2-6BE2-4388-B4BB-2314F9384B6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BFE9B-16EC-3B98-C10A-52BE1F4D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B8BEC-4FFD-870B-E7FA-261013CA5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5A92-A2C9-4E93-9336-B43A72F13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677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17F6A2-4F26-B6E9-86A3-8D5AC72A4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ADBA5-AF84-7FFB-F32C-7A608D43F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562A0-FAFC-F7BF-F395-98E39503BD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6FF1F2-6BE2-4388-B4BB-2314F9384B6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5CBD9-78A2-A251-7953-8158EA649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E70FC-459C-2FFD-ECC8-1102118D4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55A92-A2C9-4E93-9336-B43A72F13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005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8881AC-61DD-74A9-2BC6-358B43C9E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 dirty="0">
                <a:solidFill>
                  <a:srgbClr val="FFFFFF"/>
                </a:solidFill>
              </a:rPr>
              <a:t>Establishing a “Just” Learning 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6EAB07-F982-E12D-F3E1-AAE120760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Autofit/>
          </a:bodyPr>
          <a:lstStyle/>
          <a:p>
            <a:pPr algn="l"/>
            <a:r>
              <a:rPr lang="en-US" sz="1400" dirty="0">
                <a:solidFill>
                  <a:srgbClr val="FFFFFF"/>
                </a:solidFill>
              </a:rPr>
              <a:t>Kyle Marlia-Conner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</a:rPr>
              <a:t>Module 9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</a:rPr>
              <a:t>07/12/2025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60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16DCFF-3F8D-BD61-1DD2-F33D4121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600"/>
              <a:t>What Is a “Just” Learning Culture?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476173-1B59-C237-EBED-D1F3F8D9F4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872899"/>
            <a:ext cx="4243589" cy="33206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just culture promotes accountability without blame, focusing on learning from mistakes rather than punishing them.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 encourages transparency, continuous improvement, and safety in high-stakes environments like DevOps, healthcare, and aviation.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Integral to modern DevOps and SRE practices.</a:t>
            </a:r>
          </a:p>
        </p:txBody>
      </p:sp>
      <p:pic>
        <p:nvPicPr>
          <p:cNvPr id="1026" name="Picture 2" descr="Helping Hands: Helping Seniors Pay for Their Medication - The Elm">
            <a:extLst>
              <a:ext uri="{FF2B5EF4-FFF2-40B4-BE49-F238E27FC236}">
                <a16:creationId xmlns:a16="http://schemas.microsoft.com/office/drawing/2014/main" id="{0CAFC396-7DE9-7B99-B63F-7D9F5BA99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4" r="13341" b="-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700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7" name="Rectangle 206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A0BE4-94E6-9C4D-79CD-2C6EE94D5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200"/>
              <a:t>Barrier #1: Fear of Blame and Retribution</a:t>
            </a:r>
          </a:p>
        </p:txBody>
      </p:sp>
      <p:sp>
        <p:nvSpPr>
          <p:cNvPr id="206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2AADFB-BAC1-8CD6-E4DA-FD67A0BA4C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872899"/>
            <a:ext cx="4243589" cy="33206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Employees may fear punishment or job loss after reporting errors.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Legacy management styles emphasize fault-finding rather than system improvement.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This fear undermines psychological safety, which is critical for openness and learning.</a:t>
            </a:r>
          </a:p>
        </p:txBody>
      </p:sp>
      <p:pic>
        <p:nvPicPr>
          <p:cNvPr id="2050" name="Picture 2" descr="How imagination can help people overcome fear and anxiety">
            <a:extLst>
              <a:ext uri="{FF2B5EF4-FFF2-40B4-BE49-F238E27FC236}">
                <a16:creationId xmlns:a16="http://schemas.microsoft.com/office/drawing/2014/main" id="{CDF4DFC1-6B3B-11E7-DD50-7EDE564B4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047" b="-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5612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53C449-7CCA-65A9-6E67-53B079B3A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200"/>
              <a:t>Barrier #2: Resistance to Cultural Change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C2155F-FF36-3BE1-D988-65D17EDE4A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872899"/>
            <a:ext cx="4243589" cy="33206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Moving from a punitive to a just culture requires deep shifts in leadership mindset and team norms.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Long-standing organizations often face </a:t>
            </a:r>
            <a:r>
              <a:rPr lang="en-US" altLang="en-US" sz="1900">
                <a:latin typeface="Arial" panose="020B0604020202020204" pitchFamily="34" charset="0"/>
              </a:rPr>
              <a:t>resistance</a:t>
            </a:r>
            <a:r>
              <a:rPr kumimoji="0" lang="en-US" altLang="en-US" sz="19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or "we’ve always done it this way" attitudes.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Requires strong executive sponsorship and reinforcement.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900">
                <a:latin typeface="Arial" panose="020B0604020202020204" pitchFamily="34" charset="0"/>
              </a:rPr>
              <a:t>If people are not 100% on board, the change won’t stick.</a:t>
            </a:r>
            <a:endParaRPr kumimoji="0" lang="en-US" altLang="en-US" sz="190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A292E5-1613-8A82-E7DB-D12599406B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63" r="13831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7899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F3D93-18A1-1D14-8722-3BC23EF8D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200"/>
              <a:t>Barrier #3: Lack of Training or Understanding</a:t>
            </a: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8CC61-A13C-09C0-0C33-DF5D11D36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Managers and employees may not understand the principles of a just culture.</a:t>
            </a:r>
          </a:p>
          <a:p>
            <a:r>
              <a:rPr lang="en-US" sz="2200"/>
              <a:t>Without clear definitions, it’s easy to confuse accountability with punishment.</a:t>
            </a:r>
          </a:p>
          <a:p>
            <a:r>
              <a:rPr lang="en-US" sz="2200"/>
              <a:t>Requires education, ongoing communication, and support from leadership.</a:t>
            </a:r>
          </a:p>
          <a:p>
            <a:endParaRPr lang="en-U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D245B6-9B5A-EC2C-2805-E2B9BB754F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24" r="10523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04875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65082C-3E2C-E4DE-B50B-B8C66A775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dirty="0"/>
              <a:t>Overcoming the Challenges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B9948E-A1E9-F131-C40E-CAD831AAE8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872899"/>
            <a:ext cx="4243589" cy="33206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Build through open communication.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Train in systems thinking and fair accountability.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Create feedback loops and reward learning behaviors.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 blameless postmortems to investigate and grow (constructive criticism).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BFF19C-B049-65B1-9DB9-3B17F157A1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22" r="30745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38870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B5A767-A071-85D7-F2E9-FAFB0E74B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Why It’s Worth the Effort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88204A-D1C6-900C-896C-84D0742D78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872899"/>
            <a:ext cx="4243589" cy="33206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Increased trust and transparency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Faster incident response and recovery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Better team morale and retention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Encourages continuous learning and innovation</a:t>
            </a:r>
          </a:p>
        </p:txBody>
      </p:sp>
      <p:pic>
        <p:nvPicPr>
          <p:cNvPr id="6" name="Picture 5" descr="aerial view of gold trophy">
            <a:extLst>
              <a:ext uri="{FF2B5EF4-FFF2-40B4-BE49-F238E27FC236}">
                <a16:creationId xmlns:a16="http://schemas.microsoft.com/office/drawing/2014/main" id="{31853962-2826-9A5F-4114-CD7564513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48" r="-1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57070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4861E3-E3DA-6848-36D1-C9B0EEF0C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References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ECAE8-5FFB-83C0-364E-3CB911964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dirty="0">
                <a:effectLst/>
              </a:rPr>
              <a:t>Ingram, C. (2023, January 18). </a:t>
            </a:r>
            <a:r>
              <a:rPr lang="en-US" sz="2200" i="1" dirty="0">
                <a:effectLst/>
              </a:rPr>
              <a:t>Breaking down barriers: </a:t>
            </a:r>
            <a:r>
              <a:rPr lang="en-US" sz="2200" i="1" dirty="0" err="1">
                <a:effectLst/>
              </a:rPr>
              <a:t>Realising</a:t>
            </a:r>
            <a:r>
              <a:rPr lang="en-US" sz="2200" i="1" dirty="0">
                <a:effectLst/>
              </a:rPr>
              <a:t> a just culture in healthcare </a:t>
            </a:r>
            <a:r>
              <a:rPr lang="en-US" sz="2200" i="1" dirty="0" err="1">
                <a:effectLst/>
              </a:rPr>
              <a:t>organisations</a:t>
            </a:r>
            <a:r>
              <a:rPr lang="en-US" sz="2200" dirty="0">
                <a:effectLst/>
              </a:rPr>
              <a:t>. LinkedIn. https://www.linkedin.com/pulse/breaking-down-barriers-realising-just-culture-chris-ingram </a:t>
            </a:r>
          </a:p>
          <a:p>
            <a:pPr>
              <a:buNone/>
            </a:pPr>
            <a:r>
              <a:rPr lang="en-US" sz="2200" i="1" dirty="0">
                <a:effectLst/>
              </a:rPr>
              <a:t>Overcoming barriers to a just culture</a:t>
            </a:r>
            <a:r>
              <a:rPr lang="en-US" sz="2200" dirty="0">
                <a:effectLst/>
              </a:rPr>
              <a:t>. Health Quality Alberta Just Culture. (n.d.). https://justculture.hqa.ca/overcoming-barriers-to-a-just-culture/ </a:t>
            </a:r>
          </a:p>
          <a:p>
            <a:pPr>
              <a:buNone/>
            </a:pPr>
            <a:r>
              <a:rPr lang="en-US" sz="2200" dirty="0">
                <a:effectLst/>
              </a:rPr>
              <a:t>Shorrock, S. (2024, November 2). </a:t>
            </a:r>
            <a:r>
              <a:rPr lang="en-US" sz="2200" i="1" dirty="0">
                <a:effectLst/>
              </a:rPr>
              <a:t>Why is it just so difficult? barriers to “just culture” in the real world</a:t>
            </a:r>
            <a:r>
              <a:rPr lang="en-US" sz="2200" dirty="0">
                <a:effectLst/>
              </a:rPr>
              <a:t>. Humanistic Systems. https://humanisticsystems.com/2023/10/18/why-is-it-just-so-difficult-barriers-to-just-culture-in-the-real-world/ </a:t>
            </a:r>
          </a:p>
          <a:p>
            <a:pPr>
              <a:buNone/>
            </a:pPr>
            <a:r>
              <a:rPr lang="en-US" sz="2200" i="1" dirty="0">
                <a:effectLst/>
              </a:rPr>
              <a:t>Just Culture, by Sidney Dekker (a summary)</a:t>
            </a:r>
            <a:r>
              <a:rPr lang="en-US" sz="2200" dirty="0">
                <a:effectLst/>
              </a:rPr>
              <a:t>. Home. (n.d.). https://www.mindtherisk.com/literature/18-just-culture-by-sidney-dekker-a-summary 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1009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412</Words>
  <Application>Microsoft Office PowerPoint</Application>
  <PresentationFormat>Widescreen</PresentationFormat>
  <Paragraphs>38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Establishing a “Just” Learning Culture</vt:lpstr>
      <vt:lpstr>What Is a “Just” Learning Culture?</vt:lpstr>
      <vt:lpstr>Barrier #1: Fear of Blame and Retribution</vt:lpstr>
      <vt:lpstr>Barrier #2: Resistance to Cultural Change</vt:lpstr>
      <vt:lpstr>Barrier #3: Lack of Training or Understanding</vt:lpstr>
      <vt:lpstr>Overcoming the Challenges</vt:lpstr>
      <vt:lpstr>Why It’s Worth the Effort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Marlia-Conner</dc:creator>
  <cp:lastModifiedBy>Kyle Marlia-Conner</cp:lastModifiedBy>
  <cp:revision>2</cp:revision>
  <dcterms:created xsi:type="dcterms:W3CDTF">2025-07-12T22:50:11Z</dcterms:created>
  <dcterms:modified xsi:type="dcterms:W3CDTF">2025-07-14T03:22:14Z</dcterms:modified>
</cp:coreProperties>
</file>